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5a2b2364114071" /><Relationship Type="http://schemas.openxmlformats.org/officeDocument/2006/relationships/extended-properties" Target="/docProps/app.xml" Id="R2a8ed0cfd26a4969" /><Relationship Type="http://schemas.openxmlformats.org/officeDocument/2006/relationships/officeDocument" Target="/ppt/presentation.xml" Id="R3262cb9e5aed46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8ab382cfd24aac"/>
  </p:sldMasterIdLst>
  <p:notesMasterIdLst>
    <p:notesMasterId xmlns:r="http://schemas.openxmlformats.org/officeDocument/2006/relationships" r:id="R2578fc0f7a724b3c"/>
  </p:notesMasterIdLst>
  <p:sldIdLst>
    <p:sldId xmlns:r="http://schemas.openxmlformats.org/officeDocument/2006/relationships" id="256" r:id="R2874b79fd86e4207"/>
    <p:sldId xmlns:r="http://schemas.openxmlformats.org/officeDocument/2006/relationships" id="257" r:id="R9f063c5def914bb2"/>
    <p:sldId xmlns:r="http://schemas.openxmlformats.org/officeDocument/2006/relationships" id="258" r:id="R01d1ab261a2c4b70"/>
    <p:sldId xmlns:r="http://schemas.openxmlformats.org/officeDocument/2006/relationships" id="259" r:id="Rcb60bdb2980b4b07"/>
    <p:sldId xmlns:r="http://schemas.openxmlformats.org/officeDocument/2006/relationships" id="260" r:id="R1cf1dfe92a35415c"/>
    <p:sldId xmlns:r="http://schemas.openxmlformats.org/officeDocument/2006/relationships" id="261" r:id="R0daae1d78faa4ae2"/>
    <p:sldId xmlns:r="http://schemas.openxmlformats.org/officeDocument/2006/relationships" id="262" r:id="R37c9cc985fb34833"/>
    <p:sldId xmlns:r="http://schemas.openxmlformats.org/officeDocument/2006/relationships" id="263" r:id="R692ad3b4c8284b33"/>
    <p:sldId xmlns:r="http://schemas.openxmlformats.org/officeDocument/2006/relationships" id="264" r:id="R0f19677d8e5c4c39"/>
    <p:sldId xmlns:r="http://schemas.openxmlformats.org/officeDocument/2006/relationships" id="265" r:id="R3802b4407b32470d"/>
    <p:sldId xmlns:r="http://schemas.openxmlformats.org/officeDocument/2006/relationships" id="266" r:id="R8051fa1e15514f08"/>
    <p:sldId xmlns:r="http://schemas.openxmlformats.org/officeDocument/2006/relationships" id="267" r:id="Rc0d1d5c5441e4d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6a6d589a604300" /><Relationship Type="http://schemas.openxmlformats.org/officeDocument/2006/relationships/slideMaster" Target="/ppt/slideMasters/slideMaster1.xml" Id="Rc08ab382cfd24aac" /><Relationship Type="http://schemas.openxmlformats.org/officeDocument/2006/relationships/notesMaster" Target="/ppt/notesMasters/notesMaster1.xml" Id="R2578fc0f7a724b3c" /><Relationship Type="http://schemas.openxmlformats.org/officeDocument/2006/relationships/presProps" Target="/ppt/presProps.xml" Id="R6f6661a07b464f23" /><Relationship Type="http://schemas.openxmlformats.org/officeDocument/2006/relationships/viewProps" Target="/ppt/viewProps.xml" Id="Rb9f1a84046054abe" /><Relationship Type="http://schemas.openxmlformats.org/officeDocument/2006/relationships/tableStyles" Target="/ppt/tableStyles.xml" Id="Rbe93561c2f8147f4" /><Relationship Type="http://schemas.openxmlformats.org/officeDocument/2006/relationships/slide" Target="/ppt/slides/slide1.xml" Id="R2874b79fd86e4207" /><Relationship Type="http://schemas.openxmlformats.org/officeDocument/2006/relationships/slide" Target="/ppt/slides/slide2.xml" Id="R9f063c5def914bb2" /><Relationship Type="http://schemas.openxmlformats.org/officeDocument/2006/relationships/slide" Target="/ppt/slides/slide3.xml" Id="R01d1ab261a2c4b70" /><Relationship Type="http://schemas.openxmlformats.org/officeDocument/2006/relationships/slide" Target="/ppt/slides/slide4.xml" Id="Rcb60bdb2980b4b07" /><Relationship Type="http://schemas.openxmlformats.org/officeDocument/2006/relationships/slide" Target="/ppt/slides/slide5.xml" Id="R1cf1dfe92a35415c" /><Relationship Type="http://schemas.openxmlformats.org/officeDocument/2006/relationships/slide" Target="/ppt/slides/slide6.xml" Id="R0daae1d78faa4ae2" /><Relationship Type="http://schemas.openxmlformats.org/officeDocument/2006/relationships/slide" Target="/ppt/slides/slide7.xml" Id="R37c9cc985fb34833" /><Relationship Type="http://schemas.openxmlformats.org/officeDocument/2006/relationships/slide" Target="/ppt/slides/slide8.xml" Id="R692ad3b4c8284b33" /><Relationship Type="http://schemas.openxmlformats.org/officeDocument/2006/relationships/slide" Target="/ppt/slides/slide9.xml" Id="R0f19677d8e5c4c39" /><Relationship Type="http://schemas.openxmlformats.org/officeDocument/2006/relationships/slide" Target="/ppt/slides/slide10.xml" Id="R3802b4407b32470d" /><Relationship Type="http://schemas.openxmlformats.org/officeDocument/2006/relationships/slide" Target="/ppt/slides/slide11.xml" Id="R8051fa1e15514f08" /><Relationship Type="http://schemas.openxmlformats.org/officeDocument/2006/relationships/slide" Target="/ppt/slides/slide12.xml" Id="Rc0d1d5c5441e4d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de9344ae484c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0cc8d9de194c6e" /><Relationship Type="http://schemas.openxmlformats.org/officeDocument/2006/relationships/notesMaster" Target="/ppt/notesMasters/notesMaster1.xml" Id="R76c15f36bf6f4c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3c3e482fa44f94" /><Relationship Type="http://schemas.openxmlformats.org/officeDocument/2006/relationships/notesMaster" Target="/ppt/notesMasters/notesMaster1.xml" Id="R2888ce38225d48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8853dffff24042" /><Relationship Type="http://schemas.openxmlformats.org/officeDocument/2006/relationships/notesMaster" Target="/ppt/notesMasters/notesMaster1.xml" Id="Rbc6cb43923d245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e69c77dff04ad5" /><Relationship Type="http://schemas.openxmlformats.org/officeDocument/2006/relationships/notesMaster" Target="/ppt/notesMasters/notesMaster1.xml" Id="R211a0a2acdc047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268792037846eb" /><Relationship Type="http://schemas.openxmlformats.org/officeDocument/2006/relationships/notesMaster" Target="/ppt/notesMasters/notesMaster1.xml" Id="Rccb1e1e3eee949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88cfb454e54346" /><Relationship Type="http://schemas.openxmlformats.org/officeDocument/2006/relationships/notesMaster" Target="/ppt/notesMasters/notesMaster1.xml" Id="R35f3456096b243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0cca0daf484201" /><Relationship Type="http://schemas.openxmlformats.org/officeDocument/2006/relationships/notesMaster" Target="/ppt/notesMasters/notesMaster1.xml" Id="Rd111108d77be4f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ed7d5fc38f49b5" /><Relationship Type="http://schemas.openxmlformats.org/officeDocument/2006/relationships/notesMaster" Target="/ppt/notesMasters/notesMaster1.xml" Id="R500ea6b07cb94f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53758020ab44dc" /><Relationship Type="http://schemas.openxmlformats.org/officeDocument/2006/relationships/notesMaster" Target="/ppt/notesMasters/notesMaster1.xml" Id="Ra66b9d7c7be546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d49b0f5604466c" /><Relationship Type="http://schemas.openxmlformats.org/officeDocument/2006/relationships/notesMaster" Target="/ppt/notesMasters/notesMaster1.xml" Id="R7922b85b8d6640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e7ba9cb79c4217" /><Relationship Type="http://schemas.openxmlformats.org/officeDocument/2006/relationships/notesMaster" Target="/ppt/notesMasters/notesMaster1.xml" Id="R6c3b1a0d01b94c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a04389c8044dd5" /><Relationship Type="http://schemas.openxmlformats.org/officeDocument/2006/relationships/notesMaster" Target="/ppt/notesMasters/notesMaster1.xml" Id="R8b36663cf3a743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878e4029641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d40d846f1d434d" /><Relationship Type="http://schemas.openxmlformats.org/officeDocument/2006/relationships/slideLayout" Target="/ppt/slideLayouts/slideLayout1.xml" Id="R05792cd46b314d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792cd46b314d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5c18724c84b8c" /><Relationship Type="http://schemas.openxmlformats.org/officeDocument/2006/relationships/notesSlide" Target="/ppt/notesSlides/notesSlide1.xml" Id="Re909b3f3e3ee42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c376be2bd40d3" /><Relationship Type="http://schemas.openxmlformats.org/officeDocument/2006/relationships/notesSlide" Target="/ppt/notesSlides/notesSlide2.xml" Id="R381b4395b6ad40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d105683d748ed" /><Relationship Type="http://schemas.openxmlformats.org/officeDocument/2006/relationships/notesSlide" Target="/ppt/notesSlides/notesSlide3.xml" Id="R959f0f8ddc1e4c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21c8bdca0436f" /><Relationship Type="http://schemas.openxmlformats.org/officeDocument/2006/relationships/notesSlide" Target="/ppt/notesSlides/notesSlide4.xml" Id="R779c9cb1d4724e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e1da6096d4ca0" /><Relationship Type="http://schemas.openxmlformats.org/officeDocument/2006/relationships/notesSlide" Target="/ppt/notesSlides/notesSlide5.xml" Id="R78af3ff4807b44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c36f1cd80406a" /><Relationship Type="http://schemas.openxmlformats.org/officeDocument/2006/relationships/notesSlide" Target="/ppt/notesSlides/notesSlide6.xml" Id="Rfd340667f81a4d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8518235db4711" /><Relationship Type="http://schemas.openxmlformats.org/officeDocument/2006/relationships/notesSlide" Target="/ppt/notesSlides/notesSlide7.xml" Id="R0bec5c6a176b41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68f919b5b41ce" /><Relationship Type="http://schemas.openxmlformats.org/officeDocument/2006/relationships/notesSlide" Target="/ppt/notesSlides/notesSlide8.xml" Id="Rc99ea086f4a347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a2dbfc43f4dcf" /><Relationship Type="http://schemas.openxmlformats.org/officeDocument/2006/relationships/notesSlide" Target="/ppt/notesSlides/notesSlide9.xml" Id="Rbd3e9bf3543f4c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e382c771b4d91" /><Relationship Type="http://schemas.openxmlformats.org/officeDocument/2006/relationships/notesSlide" Target="/ppt/notesSlides/notesSlide10.xml" Id="R02ee302860b649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b497572c940f4" /><Relationship Type="http://schemas.openxmlformats.org/officeDocument/2006/relationships/notesSlide" Target="/ppt/notesSlides/notesSlide11.xml" Id="Rf07d4b14126c4e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8c1307c644a3b" /><Relationship Type="http://schemas.openxmlformats.org/officeDocument/2006/relationships/notesSlide" Target="/ppt/notesSlides/notesSlide12.xml" Id="R51a14939c85d4e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78B936-7250-43E7-9EC9-6062C5D3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C676B-B168-4627-B539-EA430AD3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BB169-C999-4CDE-98A1-44A3A64E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C5453-7160-47A6-B71D-F982CEBD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ECE4D-7D47-45B6-876B-85977470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 game intelligence catalog needs governed entity resolution before downstream ML becomes credible.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9346F-D433-497F-892E-01596668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Source: docs/ml_research_findings.md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80FAE-7396-4C6B-9380-46F2AA25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38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DB635-E69A-4E51-AE38-CDC3A1E2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DA033-046F-4481-818E-FC8D4A19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144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rPr>
              <a:t>31,462 source records / 17,320 candidate pairs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90A78-F9B1-41B8-A05B-8BA950DE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87337-783A-4A97-AB68-C31A4608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603AA-7669-4A60-9186-440CC407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3386138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F30B0-0915-4A8E-85B0-53806673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BA73B-CE70-4903-81DF-3A083610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7F4FB-1249-4A64-A1AC-CC7BFC69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3386138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B521F-87E7-4480-9793-55D581EB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D6DB0-3FC9-4A90-B4EC-0A43164B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6230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Candidate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pairs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48B73-9221-43D0-B200-BD466BAC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3386138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702FC-77E1-4573-A841-BAE34D84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05212-D47C-4C7E-8A6C-F28155D5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0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0E7"/>
                </a:solidFill>
                <a:latin typeface="Aptos"/>
                <a:ea typeface="Aptos"/>
                <a:cs typeface="Aptos"/>
              </a:rPr>
              <a:t>ER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E5D3B-0B64-40D1-BB1D-41D0BE0F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3386138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A63D2-A052-452C-B898-369FD612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4DB3F-AECD-48F9-9517-3936A35C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Canonical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+ 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4C0A1-BF5E-4258-AFE5-C25BC071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Multiple public sources describe the same game differently; the project turns noisy records into scored, reviewed and explainable decisions.</a:t>
            </a:r>
          </a:p>
        </p:txBody>
      </p:sp>
    </p:spTree>
    <p:extLst>
      <p:ext uri="{BB962C8B-B14F-4D97-AF65-F5344CB8AC3E}">
        <p14:creationId xmlns:p14="http://schemas.microsoft.com/office/powerpoint/2010/main" val="1275898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29C6CE-649E-4EF6-A23A-2A66A1E9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5DCD2-37E9-4C52-9C9E-DA5DEBAE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51FD3-C475-405E-90FE-6AAE10B8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16320-4B35-4BDA-9086-DED10DDC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714A4-1303-4EC5-AE6A-8CE6B2EF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current corpus is large enough to demonstrate end-to-end ML behavior, not just isolated scripts.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5DBE4-D568-4927-ABDD-C0A7BEE6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Source: ml_research_defense_summary.json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019E4-8C65-4F91-B445-34D9C6B2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38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62091-0186-4652-9A63-B1F301E3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50065-D9B8-4AEA-A693-7BE18A0E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144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rPr>
              <a:t>31,462 source records / 1,966 reviewed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C4EDA-4325-496A-954B-D0F460F8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RAWG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372B1-DC44-4446-8DF4-83428777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514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56909-4885-41B1-9A8D-31CE17E1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498919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51B50-F05E-43B8-8BA9-08DFBB22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IGDB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AD12C-AB1C-467F-B3DA-B31B2D13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514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184A7-A204-4D1C-BB84-F5A1EDFA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514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8BDA4-3E4E-41CF-9DF5-FA5198CA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Wikidata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8EECD-CE52-4799-B40B-C1AB103E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514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4D9429-FBF9-419A-A6A1-64B53E57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313753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A7A95-9AB2-45B4-8B14-B495240A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Steam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B9F4A-61D3-41FF-9FBE-FE50BC4E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514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0F007-53A2-4850-A0FA-E5B36D53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241744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18767-D00C-44FF-B3A5-8D20C758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staging source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6F6B2-FF88-4D8C-AB51-DC16A69F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RAWG, Wikidata, Steam and IGDB are normalized into staging before candidate generation and feature construction.</a:t>
            </a:r>
          </a:p>
        </p:txBody>
      </p:sp>
    </p:spTree>
    <p:extLst>
      <p:ext uri="{BB962C8B-B14F-4D97-AF65-F5344CB8AC3E}">
        <p14:creationId xmlns:p14="http://schemas.microsoft.com/office/powerpoint/2010/main" val="2099920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29A623-3809-4CB1-9C2F-BD921D36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48D0A-6B63-4B8C-B4FE-85EDFB2E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24A5B-6FD2-40EE-AC30-85B5AB02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LABELS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6874B-8A22-41FB-9C1A-3EADDDFE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19709-36D5-4126-86BE-B84E61A3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Manual positives and negatives turn ambiguous title matching into a measurable supervised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07654-94B9-4E8A-9459-8EA5B84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Source: ml.entity_resolution_manual_reviews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89DDB-31AB-4770-8F57-DC51103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38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E9B24-495F-4AAC-AA48-882CC76C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673BF-0AFC-4EA0-96EB-2D7D48BB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144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rPr>
              <a:t>1,966 reviewed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7316E-B8F7-414E-A690-907CE731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6A"/>
          </a:solidFill>
          <a:ln xmlns:a="http://schemas.openxmlformats.org/drawingml/2006/main" w="0">
            <a:solidFill>
              <a:srgbClr val="7FA6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54C25-FF6D-4889-8CB1-438FF03B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194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F4393-5245-4A8E-BC79-EE24897E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same game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675E6-C1A5-4957-93B7-814B6E8C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D57"/>
          </a:solidFill>
          <a:ln xmlns:a="http://schemas.openxmlformats.org/drawingml/2006/main" w="0">
            <a:solidFill>
              <a:srgbClr val="C76D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F7E21-3127-44CE-A23A-FBAC2D99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194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7AAA6-8C9F-4EC1-A55E-B02F23AF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385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different 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297D3-D81E-4E6E-9DD2-7E54BD3F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D59B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2FFE3-4DA2-4C84-A3F8-17719CE3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ambiguous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A990B-E444-4C11-8082-D2070D69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385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63E1D-2033-4204-858A-5981381C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Negatives matter: remasters, editions, DLCs and franchise titles often look similar while representing different entities.</a:t>
            </a:r>
          </a:p>
        </p:txBody>
      </p:sp>
    </p:spTree>
    <p:extLst>
      <p:ext uri="{BB962C8B-B14F-4D97-AF65-F5344CB8AC3E}">
        <p14:creationId xmlns:p14="http://schemas.microsoft.com/office/powerpoint/2010/main" val="3309389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5D29A2-C393-43CF-A4F8-38A100C7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B6E15-5703-4117-B478-EA5BC9D5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B8595-E456-4E77-94FE-742B291F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A7ECE-DA2F-4B9D-B9C2-3888220C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3718A-319A-4E30-8989-BA8AF481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 weighted Logistic Regression baseline is strong enough for research and transparent enough for governance.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713C5-C0A3-4200-B463-50353B85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Source: ablation_study.csv, calibration_bins.csv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83674-44D8-4242-AE1A-8382D9DF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38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8C2A0-5229-4E3C-AC5B-6B2BE750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38A28-36B5-4D51-B52D-04325CCC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144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rPr>
              <a:t>v3c F1 = 0.948675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A49F2-A7CA-4445-8554-C1E0CCC0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B9471-0BAD-4664-ADF3-D1D67F89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0.983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7D92D-6C74-4D31-944B-7E83E454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C042B-E074-46C2-8F8C-491899ED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0.916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28A32-4240-4C4D-8F08-07FF3DA7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718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79964-2517-43A3-AB82-58719BF3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0.949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EF534-EEE9-42ED-9015-53937517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6AEDC-70A4-48B7-9367-9345CAEC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528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0.957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9B0D9-0C03-43C6-8CA0-B86460D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The model uses similarity, year, external-id and metadata features with manual labels weighted above weak positives.</a:t>
            </a:r>
          </a:p>
        </p:txBody>
      </p:sp>
    </p:spTree>
    <p:extLst>
      <p:ext uri="{BB962C8B-B14F-4D97-AF65-F5344CB8AC3E}">
        <p14:creationId xmlns:p14="http://schemas.microsoft.com/office/powerpoint/2010/main" val="189005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8EA91F-C80E-4E21-BA87-92C274B8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F79E6-B7A4-4A7B-B149-08C38E6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71805-8087-4A8B-A72F-05F673D3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C97A4-8ACE-4F0C-A554-581C4766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9FD13-3C43-400B-B526-05AE7AB6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Model scores should expand review and hybrid candidates, not blindly overwrite canonical merges.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00446-99DE-4117-9C9D-C4CED048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Source: merge_strategy_comparison.json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57746-F9F9-4C32-AF48-8796A364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38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5CE4C-16B5-4E96-85C2-969401BE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8B55A-8EF9-4C89-B884-E6372FB1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144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rPr>
              <a:t>6 shadow merge strategies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09152-018C-474E-8D63-E8BC0302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6A"/>
          </a:solidFill>
          <a:ln xmlns:a="http://schemas.openxmlformats.org/drawingml/2006/main" w="0">
            <a:solidFill>
              <a:srgbClr val="7FA6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600AB-C81E-44AF-87C6-DCB6A46F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527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ED3E5-F8B6-4716-9C4B-2C16398A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safe candidate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DD49D-0A2B-49D5-A2A8-F314B283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0B8"/>
          </a:solidFill>
          <a:ln xmlns:a="http://schemas.openxmlformats.org/drawingml/2006/main" w="0">
            <a:solidFill>
              <a:srgbClr val="5EA0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0851E-09E5-4F93-9650-66C08269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527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687A1-232F-4012-AB0A-DF45D825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high-confidence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AFA1A-01A0-4AED-94A3-036CE741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D59B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B1660-7C96-4554-99DE-45C9A584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0.70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9B02D-4DCE-4F76-AB7B-1CEF977C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61AA1-FCA1-4B19-BDB0-18390CD4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Trusted deterministic edges remain production-safe; model-only thresholds are useful as controlled research lanes.</a:t>
            </a:r>
          </a:p>
        </p:txBody>
      </p:sp>
    </p:spTree>
    <p:extLst>
      <p:ext uri="{BB962C8B-B14F-4D97-AF65-F5344CB8AC3E}">
        <p14:creationId xmlns:p14="http://schemas.microsoft.com/office/powerpoint/2010/main" val="5429801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62E1C-15D6-4F9C-83A5-B51305DE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81AD7-A9CD-4249-A523-3612520B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71685-6FC3-412D-889B-8D86CC21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CE513-F6AC-43E8-83B5-B08684F8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8DC9B-FA33-404A-A372-0B23FA4D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Pair-level accuracy is not enough: one bad edge can contaminate a whole canonical component.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97459-55A9-42C0-AB5B-3053147B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Source: graph_analysis_summary.json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FA768-7003-4BDE-8F58-FBFE4975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38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4B59D-CEBE-4D25-A989-F8F1E63E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981D1-173B-4132-84D7-E4744D2B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144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rPr>
              <a:t>248 risky components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01E42-486C-4D62-94D9-EDA8153D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46031">
            <a:off x="2349596" y="2900363"/>
            <a:ext cx="168255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61B9E-5D29-4362-9227-3C610699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1606">
            <a:off x="3957096" y="2947988"/>
            <a:ext cx="180130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BDD89-1C47-4EBD-9AFE-0FBC75AC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7179">
            <a:off x="5701721" y="3076575"/>
            <a:ext cx="155055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5B6FB-98BE-45CE-A774-1D7BF1EC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38060">
            <a:off x="3376415" y="3500438"/>
            <a:ext cx="172442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F6AE0-BB70-4B04-A19A-BE5C0F5A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76550"/>
            <a:ext cx="800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8BDDA-EED8-4AB1-9460-CE0C51E4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289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RAWG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18875-8533-4180-A14A-E8F2A4E4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19350"/>
            <a:ext cx="800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F11ED-4AB3-4F4B-AC7F-91C16F01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717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IGDB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91E4B-FB4B-48B6-92A6-233B254B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800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0D1DC-3054-4760-9988-29E0E508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242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Wiki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0AE9E-4F39-4E43-BD8E-C925C9A1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76700"/>
            <a:ext cx="800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2205CD-702F-41C8-8FA7-D6C2DBE9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291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89332-3EEE-4026-ABF6-4BF189F0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86050"/>
            <a:ext cx="800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D57"/>
          </a:solidFill>
          <a:ln xmlns:a="http://schemas.openxmlformats.org/drawingml/2006/main" w="9525">
            <a:solidFill>
              <a:srgbClr val="C76D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091D16-6A46-45C0-9BEB-F18544AF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3845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9D3735-8D49-4E40-BD52-CFE02BF0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Component analysis reveals same-source conflicts and transitive risks that a pair confusion matrix cannot show.</a:t>
            </a:r>
          </a:p>
        </p:txBody>
      </p:sp>
    </p:spTree>
    <p:extLst>
      <p:ext uri="{BB962C8B-B14F-4D97-AF65-F5344CB8AC3E}">
        <p14:creationId xmlns:p14="http://schemas.microsoft.com/office/powerpoint/2010/main" val="6777868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A33A76-4DEF-4662-A9DB-25F45765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01B37-1D6B-455C-A661-B9FE4402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B981A-DE64-428F-8CF0-907E4E50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5033F-8744-48D7-A96F-89B85D44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6C340-0A02-44D3-9E53-4CCABF0E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Local title vectors improve the fuzzy-only baseline without adding external model dependencies.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ABD4E-112C-486E-817C-F5886D4D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Source: embedding_model_comparison.csv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768E0-C0DE-489D-924B-E6EF4B61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38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94D32-0331-4496-946E-5723BD81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95EBE-0EE1-4EF2-93F2-8F2FBA48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144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rPr>
              <a:t>Best embedding F1 = 0.974026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BB321-8D8F-459B-B310-29B50615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fuzzy name only F1 0.951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30DB0-61BE-479B-860D-BD9CD1D6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295D5-6938-4A2A-A20E-ACFCC69A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471030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67D62-7181-4CF5-99BA-305F23F6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combined title vectors + year F1 0.974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AB34C-E109-40BB-B2EC-0058A92E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77D83-0351-4E37-B5AC-1AB7FDF8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482422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28724-D8E3-43C7-806F-F19B64C9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TF-IDF/SVD title similarity provides an embedding-style research lane before heavier multilingual neural models.</a:t>
            </a:r>
          </a:p>
        </p:txBody>
      </p:sp>
    </p:spTree>
    <p:extLst>
      <p:ext uri="{BB962C8B-B14F-4D97-AF65-F5344CB8AC3E}">
        <p14:creationId xmlns:p14="http://schemas.microsoft.com/office/powerpoint/2010/main" val="334236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561B2B-C0BA-4827-904A-3F63A699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C0AAE-E767-4D96-9AE3-729AEA99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5C1B4-2927-457F-8507-3C0D56DD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IGDB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F4338-E6CC-4808-9AFC-8FEF5856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519BF-C776-4FFF-80E2-9C398311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IGDB is valuable as a ranked candidate source, but rank governance is mandatory.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1B043-BF8E-4456-9378-8808EF8E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Source: igdb_matching_summary.json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99B74-F515-4924-9A0B-CFF300A5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38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A185A-53BF-4B2D-A6AD-851871EC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346A2-7A4A-49BA-AD65-2B412288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144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rPr>
              <a:t>Rank-1 reviewed precision = 0.928719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57EFF-561C-421C-9D4D-21F2D856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04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rank 1 reviewed 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CC681-5A3A-4E7D-B1B6-56AC1A9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514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13E80-A623-4B9D-9785-0BB01E54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477831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1BEFC-C2ED-4F6D-8470-DEAC085C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rank 2-3 reviewed precision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12278-ABCF-4E73-BF7E-E7EBC8DD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514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8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B3B97-090B-482D-A96F-5C7EB67E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26746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4D87B-5AB3-44DB-A497-21E08A04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Rank is a governance signal, not just a retrieval detail.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1D31D-D095-4688-9486-1EEFDA06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Rank-1 candidates are high quality; lower ranks are useful for negatives, ambiguity and enrichment analysis.</a:t>
            </a:r>
          </a:p>
        </p:txBody>
      </p:sp>
    </p:spTree>
    <p:extLst>
      <p:ext uri="{BB962C8B-B14F-4D97-AF65-F5344CB8AC3E}">
        <p14:creationId xmlns:p14="http://schemas.microsoft.com/office/powerpoint/2010/main" val="5939691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E27E04-01F4-4A49-BFB6-F0F52B76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5F197-A52F-4AEA-B49D-EA6E5D6F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5C163-5C2C-45C3-B309-DA9E2B0C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RECS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0C7BE-2017-4961-9EDF-3D92E2CA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700B8-2147-4662-B8FE-531D9963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Recommendations are explainable because they are tied to shared canonical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6CC17-8807-47C1-8F0D-7562A0ED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Source: recommendation_examples.csv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94B2F-72EA-4087-9B70-3987D3FF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38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13F42-5E27-4F82-991A-5850B10C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03D1A-A415-43AD-ADE1-3C7C7E4A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144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rPr>
              <a:t>content_jaccard_v1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DA866-E8A9-448B-B9E0-38A9096B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2EC1D-D286-4D66-8C1F-D87838A0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861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seed game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0C771-FA27-4797-8BDC-C78E03A7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3681413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016D7-8CF1-45F8-94F8-94B7E094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864E6-9772-4CF2-8CAA-F8C5137C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861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0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0E7"/>
                </a:solidFill>
                <a:latin typeface="Aptos"/>
                <a:ea typeface="Aptos"/>
                <a:cs typeface="Aptos"/>
              </a:rPr>
              <a:t>shared tags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8D3D9-6802-461F-9CAA-6E491E7D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681413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D8A7C-14AE-4C7A-80D4-9BE60299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E06D6-7BE8-4088-82E3-D5A9D81A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861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similar games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7D897-7E3D-4887-9710-CEDC3C29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Without user interactions, the current recommender should be presented as content-based retrieval, not collaborative filtering.</a:t>
            </a:r>
          </a:p>
        </p:txBody>
      </p:sp>
    </p:spTree>
    <p:extLst>
      <p:ext uri="{BB962C8B-B14F-4D97-AF65-F5344CB8AC3E}">
        <p14:creationId xmlns:p14="http://schemas.microsoft.com/office/powerpoint/2010/main" val="3965420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DCFCE-2474-41E6-8FD9-8E02AE3C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88807-CD82-41E7-8B14-A9F5DF42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7C98F-EB10-4C06-82FB-6DD542FB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RATING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278EB-80D3-4AA6-A26B-6C14307A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44557-739B-4358-B038-63DDC2D8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Vote-adjusted ratings reduce ranking noise for games with sparse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82E58-AD5A-490F-84A4-D66440E7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Source: bayesian_rating_summary.json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65367-3E41-4F83-AB3C-56E842FA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38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2C99B-DA24-4ACC-B604-4E30433A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ECA59-6082-4F3D-ACA3-CA605F99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144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rPr>
              <a:t>14,468 canonical games with Bayesian ratings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DFDD7-46AC-4101-B480-A0105988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4086225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90FF6-84B9-47A0-A1C9-A4CCF29B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33800"/>
            <a:ext cx="171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F9275-1C02-46D9-A932-15AF688C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95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naive outlier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16292-DC43-46A7-87C4-D6F8A029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171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D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2CE3E-710E-42BE-ADF9-91EC6139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global mean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7AD2B-425D-4959-AE2E-2909DF90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171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BAAB7-67FC-4B7C-9D39-CD89E643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Bayesian adjusted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B0621-7FB4-4341-8864-70EE8459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Bayesian adjustment demonstrates a separate interpretable statistics block over the canonical catalog.</a:t>
            </a:r>
          </a:p>
        </p:txBody>
      </p:sp>
    </p:spTree>
    <p:extLst>
      <p:ext uri="{BB962C8B-B14F-4D97-AF65-F5344CB8AC3E}">
        <p14:creationId xmlns:p14="http://schemas.microsoft.com/office/powerpoint/2010/main" val="14019842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8FD1AF-B393-4670-AAAE-B356CFB5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1C17B-3890-4F0C-9508-59779CD2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80849-DB5E-4767-9E83-AF5A4927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9E035-A9E4-43DB-8FF5-B385095B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BE716-0E01-481E-B544-B964CEEE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explanation layer renders computed facts; it does not make ER or recommendation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8495C-147F-4985-A159-1F28A775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Source: rag_explanation_examples.md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CEEF2-DEEE-4AAE-8992-31F7F35F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38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42308-3B7A-4BD2-A3FD-00103983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A7372-017A-439F-A5A3-87CBD9CF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144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rPr>
              <a:t>50 grounded Russian explanations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520B5-9145-45B5-BBD4-D97B6C4D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723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B5243-E47D-454A-8D14-00D8A555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62300"/>
            <a:ext cx="6705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Объяснение опирается на вычисленные признаки: совпадение названия, год выпуска, ручную метку и общие canonical facts.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CBA19-1AAF-4C90-88D8-595B40CA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148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6A"/>
          </a:solidFill>
          <a:ln xmlns:a="http://schemas.openxmlformats.org/drawingml/2006/main" w="0">
            <a:solidFill>
              <a:srgbClr val="7FA6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53426-661B-4949-A0A6-93A4A527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624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facts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22B55-10CB-4E6A-B464-0E77CC45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14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D57"/>
          </a:solidFill>
          <a:ln xmlns:a="http://schemas.openxmlformats.org/drawingml/2006/main" w="0">
            <a:solidFill>
              <a:srgbClr val="C76D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626A6-D58F-4549-B6F6-A2F3F6B2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624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LLM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B8847-1422-4DBF-8342-E74CCDEC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Match and recommendation explanations cite computed features, predictions, manual labels and canonical facts.</a:t>
            </a:r>
          </a:p>
        </p:txBody>
      </p:sp>
    </p:spTree>
    <p:extLst>
      <p:ext uri="{BB962C8B-B14F-4D97-AF65-F5344CB8AC3E}">
        <p14:creationId xmlns:p14="http://schemas.microsoft.com/office/powerpoint/2010/main" val="531047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5A87E-E28B-4068-9E2A-533ADB6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CB9F4-CF10-498E-A786-07FC1E0D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ED6C3-489B-499A-A862-035E95D8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6F041-9F0C-4EB0-9AD1-17653F70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50A14-94E4-4E88-B542-97678869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project is defense-ready as an ER-first ML study, with clear paths for stronger future research.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41AA6-7368-4787-A789-CE57B266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C6D5F"/>
                </a:solidFill>
                <a:latin typeface="Aptos"/>
                <a:ea typeface="Aptos"/>
                <a:cs typeface="Aptos"/>
              </a:rPr>
              <a:t>Source: docs/model_card.md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399D8-35A5-4048-8D11-C6AD6F16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38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F9CEA-2F0C-4BAE-BEB1-1F5D4C03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2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60AA1-CD3C-4A74-B681-9A5F3336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14400"/>
            <a:ext cx="2514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0E7"/>
                </a:solidFill>
                <a:latin typeface="Aptos Display"/>
                <a:ea typeface="Aptos Display"/>
                <a:cs typeface="Aptos Display"/>
              </a:rPr>
              <a:t>ready: artifacts 10/10, metrics 9/9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1CAF9-3C52-4C37-8E62-E2365B02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0400"/>
            <a:ext cx="165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6106C-8604-45D2-9566-CDD2C3EF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59B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9B3D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4B0DD-019E-452B-BE36-4FD3C7F7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385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F0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0E7"/>
                </a:solidFill>
                <a:latin typeface="Aptos"/>
                <a:ea typeface="Aptos"/>
                <a:cs typeface="Aptos"/>
              </a:rPr>
              <a:t>defense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930A1-8E72-42E4-909F-BC52B942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3633788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4220A-A018-4074-B984-67A8F6F9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165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A650B-59BE-4CEE-9D5C-B9D6C97B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A394C-4D81-47F3-96B2-A0E41B11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385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neural embeddings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67034-C6AD-42DA-834B-069E1855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3633788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4E28B-947F-435E-A7A8-680C9A85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00400"/>
            <a:ext cx="165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E86ECB-E6C6-4CB4-9D23-B493F72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A237B9-4376-419E-A8EE-B263F3A2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LLM rendering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3F46A-DB3C-497D-98DF-9B9B00E3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3633788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90ADF-5139-49B8-B07F-35E7CECF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0400"/>
            <a:ext cx="165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C7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B4BD54-5410-41A4-9408-E54B2616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528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6D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6D5F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EC5D98-6D10-4483-B8C5-2F44D7C6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develop merge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E09EC2-7A6E-42D6-9F28-B14451DA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Next cycles: final deck rehearsal, neural embeddings, LLM rendering over fact cards, and branch integration.</a:t>
            </a:r>
          </a:p>
        </p:txBody>
      </p:sp>
    </p:spTree>
    <p:extLst>
      <p:ext uri="{BB962C8B-B14F-4D97-AF65-F5344CB8AC3E}">
        <p14:creationId xmlns:p14="http://schemas.microsoft.com/office/powerpoint/2010/main" val="176802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2026-06-04T09:03:30.0670000Z</dcterms:created>
  <dcterms:modified xsi:type="dcterms:W3CDTF">2026-06-04T09:03:30.0670000Z</dcterms:modified>
</coreProperties>
</file>